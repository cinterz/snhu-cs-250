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21"/>
  </p:notesMasterIdLst>
  <p:handoutMasterIdLst>
    <p:handoutMasterId r:id="rId22"/>
  </p:handoutMasterIdLst>
  <p:sldIdLst>
    <p:sldId id="334" r:id="rId5"/>
    <p:sldId id="316" r:id="rId6"/>
    <p:sldId id="337" r:id="rId7"/>
    <p:sldId id="343" r:id="rId8"/>
    <p:sldId id="342" r:id="rId9"/>
    <p:sldId id="336" r:id="rId10"/>
    <p:sldId id="324" r:id="rId11"/>
    <p:sldId id="346" r:id="rId12"/>
    <p:sldId id="328" r:id="rId13"/>
    <p:sldId id="345" r:id="rId14"/>
    <p:sldId id="331" r:id="rId15"/>
    <p:sldId id="347" r:id="rId16"/>
    <p:sldId id="349" r:id="rId17"/>
    <p:sldId id="350" r:id="rId18"/>
    <p:sldId id="351" r:id="rId19"/>
    <p:sldId id="35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14F7AE-B641-4CB0-AB23-88D2CBBA4AED}" v="503" dt="2026-02-19T15:51:36.984"/>
    <p1510:client id="{E0805184-36C3-48C5-8116-8B623249BB55}" v="11" dt="2026-02-19T15:56:14.071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84967" autoAdjust="0"/>
  </p:normalViewPr>
  <p:slideViewPr>
    <p:cSldViewPr snapToGrid="0">
      <p:cViewPr>
        <p:scale>
          <a:sx n="100" d="100"/>
          <a:sy n="100" d="100"/>
        </p:scale>
        <p:origin x="-48" y="-446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487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776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547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06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9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93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230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167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059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6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10916090" cy="3080335"/>
          </a:xfrm>
        </p:spPr>
        <p:txBody>
          <a:bodyPr/>
          <a:lstStyle/>
          <a:p>
            <a:r>
              <a:rPr lang="en-US" dirty="0"/>
              <a:t>Agile vs. Waterfall: Understanding modern software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CEB67C-9E71-896C-C09E-1D9A2E16E62F}"/>
              </a:ext>
            </a:extLst>
          </p:cNvPr>
          <p:cNvSpPr txBox="1"/>
          <p:nvPr/>
        </p:nvSpPr>
        <p:spPr>
          <a:xfrm>
            <a:off x="4508669" y="4717834"/>
            <a:ext cx="6391154" cy="17662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9A593-1CFC-7AA0-BAB8-A58F7D9552AC}"/>
              </a:ext>
            </a:extLst>
          </p:cNvPr>
          <p:cNvSpPr txBox="1"/>
          <p:nvPr/>
        </p:nvSpPr>
        <p:spPr>
          <a:xfrm>
            <a:off x="2881829" y="4322744"/>
            <a:ext cx="885465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Prepared by: Carl Pottorff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Course: CS-250 Software Development Lifecycle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Date: 2/19/2026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4658" y="614202"/>
            <a:ext cx="5989958" cy="85349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B520C53E-8329-74AB-5229-BCDE630B2E1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t="21" b="21"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4661" y="1709639"/>
            <a:ext cx="7283917" cy="5344700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 algn="l">
              <a:buChar char="•"/>
            </a:pPr>
            <a:r>
              <a:rPr lang="en-US" b="1" dirty="0"/>
              <a:t>Software development requires structured approaches to manage complexity and deliver value.</a:t>
            </a:r>
          </a:p>
          <a:p>
            <a:pPr marL="342900" indent="-342900" algn="l">
              <a:buChar char="•"/>
            </a:pPr>
            <a:r>
              <a:rPr lang="en-US" b="1" dirty="0"/>
              <a:t>This presentation explains key Scrum-Agile roles, Agile SDLC phases, and contrasts Agile with traditional Waterfall model.</a:t>
            </a:r>
          </a:p>
          <a:p>
            <a:pPr marL="342900" indent="-342900" algn="l">
              <a:buChar char="•"/>
            </a:pPr>
            <a:r>
              <a:rPr lang="en-US" b="1" dirty="0"/>
              <a:t>It concludes with guidance on choosing the right methodology for a project.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A271-8875-6BCE-0A4A-542683BB3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235" y="-6282"/>
            <a:ext cx="11172195" cy="3080335"/>
          </a:xfrm>
        </p:spPr>
        <p:txBody>
          <a:bodyPr/>
          <a:lstStyle/>
          <a:p>
            <a:r>
              <a:rPr lang="en-US" dirty="0"/>
              <a:t>Scrum-Agile Roles Overview</a:t>
            </a:r>
          </a:p>
        </p:txBody>
      </p:sp>
      <p:pic>
        <p:nvPicPr>
          <p:cNvPr id="7" name="Picture Placeholder 8" descr="Mountains at sunset">
            <a:extLst>
              <a:ext uri="{FF2B5EF4-FFF2-40B4-BE49-F238E27FC236}">
                <a16:creationId xmlns:a16="http://schemas.microsoft.com/office/drawing/2014/main" id="{DABEABE1-2983-8759-E3F7-CCC6330C6B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23" r="23"/>
          <a:stretch/>
        </p:blipFill>
        <p:spPr>
          <a:xfrm>
            <a:off x="8672040" y="569982"/>
            <a:ext cx="3521337" cy="3521344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89DC18-A28D-2AA7-FA3D-C3779348C85A}"/>
              </a:ext>
            </a:extLst>
          </p:cNvPr>
          <p:cNvSpPr txBox="1"/>
          <p:nvPr/>
        </p:nvSpPr>
        <p:spPr>
          <a:xfrm>
            <a:off x="1533877" y="1859244"/>
            <a:ext cx="6460876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Scrum defines clear roles to support collaboration and continuous delivery:</a:t>
            </a:r>
            <a:endParaRPr lang="en-US" sz="2400" b="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Product Owner</a:t>
            </a:r>
            <a:endParaRPr lang="en-US" sz="2400" b="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Scrum Master</a:t>
            </a:r>
            <a:endParaRPr lang="en-US" sz="2400" b="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Development Team Each role contributes uniquely to product success.</a:t>
            </a:r>
            <a:endParaRPr lang="en-US" sz="2400" b="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23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68171-F501-5EC9-8849-5D0FE73AE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1344571"/>
            <a:ext cx="10287863" cy="759367"/>
          </a:xfrm>
        </p:spPr>
        <p:txBody>
          <a:bodyPr/>
          <a:lstStyle/>
          <a:p>
            <a:r>
              <a:rPr lang="en-US" dirty="0"/>
              <a:t>Product Owner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A9D03-6CF8-D31E-2E06-88AEBCEF7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0158" y="2588447"/>
            <a:ext cx="7853678" cy="2796984"/>
          </a:xfrm>
        </p:spPr>
        <p:txBody>
          <a:bodyPr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Represents customer and business interests.</a:t>
            </a:r>
            <a:endParaRPr lang="en-US" b="1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Owns and prioritizes the Product Backlog.</a:t>
            </a:r>
            <a:endParaRPr lang="en-US" b="1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Ensures the team builds the highest‑value features first.</a:t>
            </a:r>
            <a:endParaRPr lang="en-US" b="1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Critical for maintaining vision and maximizing ROI</a:t>
            </a:r>
            <a:endParaRPr lang="en-US" b="1" dirty="0"/>
          </a:p>
          <a:p>
            <a:endParaRPr lang="en-US" dirty="0"/>
          </a:p>
        </p:txBody>
      </p:sp>
      <p:pic>
        <p:nvPicPr>
          <p:cNvPr id="6" name="Picture Placeholder 21" descr="Mountains under near dusk sky">
            <a:extLst>
              <a:ext uri="{FF2B5EF4-FFF2-40B4-BE49-F238E27FC236}">
                <a16:creationId xmlns:a16="http://schemas.microsoft.com/office/drawing/2014/main" id="{56606EF5-1CC7-5421-5CF4-C03704056C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16939" r="16939"/>
          <a:stretch/>
        </p:blipFill>
        <p:spPr>
          <a:xfrm>
            <a:off x="8536252" y="186068"/>
            <a:ext cx="3043077" cy="3043083"/>
          </a:xfrm>
        </p:spPr>
      </p:pic>
    </p:spTree>
    <p:extLst>
      <p:ext uri="{BB962C8B-B14F-4D97-AF65-F5344CB8AC3E}">
        <p14:creationId xmlns:p14="http://schemas.microsoft.com/office/powerpoint/2010/main" val="3962753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master</a:t>
            </a:r>
          </a:p>
        </p:txBody>
      </p:sp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06CC7187-0D55-8D17-DB17-83EAB1EF8D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18541-7290-F1A9-2357-CA26E074E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6536" y="2194560"/>
            <a:ext cx="8346344" cy="4023360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Facilitates Scrum events and removes impediments.</a:t>
            </a:r>
            <a:endParaRPr lang="en-US" sz="2400" b="1"/>
          </a:p>
          <a:p>
            <a:pPr marL="285750" indent="-28575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Coaches the team on Agile principles.</a:t>
            </a:r>
            <a:endParaRPr lang="en-US" sz="2400" b="1"/>
          </a:p>
          <a:p>
            <a:pPr marL="285750" indent="-28575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Protects the team from distractions.</a:t>
            </a:r>
            <a:endParaRPr lang="en-US" sz="2400" b="1"/>
          </a:p>
          <a:p>
            <a:pPr marL="285750" indent="-28575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Ensures continuous improvement and smooth workflow.</a:t>
            </a:r>
            <a:endParaRPr lang="en-US" sz="2400" b="1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698432-2D58-D940-A0AE-7748E2A48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Development Team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C780BDD-62B7-3E51-C2DE-09259F62C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0158" y="48283"/>
            <a:ext cx="10302237" cy="3330171"/>
          </a:xfrm>
        </p:spPr>
        <p:txBody>
          <a:bodyPr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Cross‑functional professionals who build the product.</a:t>
            </a:r>
            <a:endParaRPr lang="en-US" b="1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Self‑organizing and collaborative.</a:t>
            </a:r>
            <a:endParaRPr lang="en-US" b="1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Responsible for delivering a potentially shippable increment each Sprint.</a:t>
            </a:r>
            <a:endParaRPr lang="en-US" b="1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Their expertise drives product quality.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168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FDAA-00CD-846E-A576-B59DFA73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/>
          <a:lstStyle/>
          <a:p>
            <a:r>
              <a:rPr lang="en-US" dirty="0"/>
              <a:t>Agile SDLC Phases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B3B4A-6ED2-64D9-BEC7-1B6C66971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5680206" cy="4040574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Agile uses iterative cycles rather than linear stages. Key phases include: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Planning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Requirements / Backlog Creation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Design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Development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Testing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Deployment &amp; Review</a:t>
            </a:r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FF1654-306D-262A-D360-5E5C2E6B39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 flipV="1">
            <a:off x="10691553" y="10264279"/>
            <a:ext cx="1266358" cy="330142"/>
          </a:xfrm>
        </p:spPr>
        <p:txBody>
          <a:bodyPr vert="horz" lIns="0" tIns="0" rIns="0" bIns="0" rtlCol="0"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816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E24D3-07BE-C483-3F42-95EEE8333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&amp; Requirements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9EFE5C42-059F-482E-C029-E8FA5107EED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20734" y="1533524"/>
            <a:ext cx="4922232" cy="3117549"/>
          </a:xfrm>
        </p:spPr>
        <p:txBody>
          <a:bodyPr vert="horz" lIns="0" tIns="0" rIns="0" bIns="0" rtlCol="0" anchor="t" anchorCtr="0">
            <a:noAutofit/>
          </a:bodyPr>
          <a:lstStyle/>
          <a:p>
            <a:pPr indent="-511810"/>
            <a:r>
              <a:rPr lang="en-US" sz="2400" b="1" dirty="0">
                <a:ea typeface="+mn-lt"/>
                <a:cs typeface="+mn-lt"/>
              </a:rPr>
              <a:t>High‑level planning occurs at the start of each Sprint.</a:t>
            </a:r>
            <a:endParaRPr lang="en-US" sz="2400" b="1"/>
          </a:p>
          <a:p>
            <a:pPr indent="-511810"/>
            <a:r>
              <a:rPr lang="en-US" sz="2400" b="1" dirty="0">
                <a:ea typeface="+mn-lt"/>
                <a:cs typeface="+mn-lt"/>
              </a:rPr>
              <a:t>Requirements are captured as user stories in the Product Backlog.</a:t>
            </a:r>
            <a:endParaRPr lang="en-US" sz="2400" b="1"/>
          </a:p>
          <a:p>
            <a:pPr indent="-511810"/>
            <a:r>
              <a:rPr lang="en-US" sz="2400" b="1" dirty="0">
                <a:ea typeface="+mn-lt"/>
                <a:cs typeface="+mn-lt"/>
              </a:rPr>
              <a:t>Prioritization is continuous, allowing rapid adaptation to change.</a:t>
            </a:r>
            <a:endParaRPr lang="en-US" sz="2400" dirty="0"/>
          </a:p>
          <a:p>
            <a:pPr indent="-511810"/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28FD192-492A-A40D-E86A-BABC77587C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67443" y="8989502"/>
            <a:ext cx="4663440" cy="1190033"/>
          </a:xfrm>
        </p:spPr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BE675-C1B2-B9A7-2D6B-5AA1D7144A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31632" y="9335944"/>
            <a:ext cx="2823139" cy="23344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64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47ABD4-990A-BAC8-69FC-AF4C84F3A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/>
          <a:lstStyle/>
          <a:p>
            <a:r>
              <a:rPr lang="en-US" dirty="0"/>
              <a:t>Design &amp; Development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1E6A21B-7748-174B-D77E-8EE0B288C7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Design evolves incrementally rather than being finalized upfront.</a:t>
            </a:r>
            <a:endParaRPr lang="en-US" sz="2400" b="1"/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Development occurs in short Sprints (1–4 weeks).</a:t>
            </a:r>
            <a:endParaRPr lang="en-US" sz="2400" b="1"/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Teams deliver small, functional increments of the product.</a:t>
            </a:r>
            <a:endParaRPr lang="en-US" sz="2400" b="1" dirty="0"/>
          </a:p>
          <a:p>
            <a:endParaRPr lang="en-US" dirty="0"/>
          </a:p>
        </p:txBody>
      </p:sp>
      <p:pic>
        <p:nvPicPr>
          <p:cNvPr id="6" name="Picture Placeholder 21" descr="Mountains under near dusk sky">
            <a:extLst>
              <a:ext uri="{FF2B5EF4-FFF2-40B4-BE49-F238E27FC236}">
                <a16:creationId xmlns:a16="http://schemas.microsoft.com/office/drawing/2014/main" id="{1472EB4E-1296-AC66-19FA-B01BB8D8A5F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22444" r="22444"/>
          <a:stretch/>
        </p:blipFill>
        <p:spPr>
          <a:xfrm>
            <a:off x="6695553" y="301752"/>
            <a:ext cx="5221224" cy="6263640"/>
          </a:xfrm>
        </p:spPr>
      </p:pic>
    </p:spTree>
    <p:extLst>
      <p:ext uri="{BB962C8B-B14F-4D97-AF65-F5344CB8AC3E}">
        <p14:creationId xmlns:p14="http://schemas.microsoft.com/office/powerpoint/2010/main" val="3638111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7B8245B-90F5-42D5-BB2F-B23140DB2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&amp; Deployment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262961-9495-E252-E690-1E733A8CC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2183" y="2739174"/>
            <a:ext cx="7969605" cy="3440214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Testing happens continuously within each Sprint.</a:t>
            </a:r>
            <a:endParaRPr lang="en-US" sz="2400" b="1"/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Issues are identified early, reducing risk.</a:t>
            </a:r>
            <a:endParaRPr lang="en-US" sz="2400" b="1"/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Each Sprint ends with a Sprint Review and Retrospective to refine both the product and the process.</a:t>
            </a:r>
            <a:endParaRPr lang="en-US" sz="2400" b="1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09125-F130-D48F-5C6A-C0A9DA07C5FC}"/>
              </a:ext>
            </a:extLst>
          </p:cNvPr>
          <p:cNvSpPr>
            <a:spLocks noGrp="1"/>
          </p:cNvSpPr>
          <p:nvPr>
            <p:ph idx="21"/>
          </p:nvPr>
        </p:nvSpPr>
        <p:spPr>
          <a:xfrm flipH="1">
            <a:off x="10015293" y="8811595"/>
            <a:ext cx="236338" cy="232753"/>
          </a:xfrm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82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B4A8555D-2DFF-E6D8-3698-67C06B770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8989" y="772449"/>
            <a:ext cx="9144000" cy="1280160"/>
          </a:xfrm>
        </p:spPr>
        <p:txBody>
          <a:bodyPr/>
          <a:lstStyle/>
          <a:p>
            <a:r>
              <a:rPr lang="en-US" dirty="0"/>
              <a:t>Waterfall Model Overview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E16BFA7C-979F-1D5E-79D4-DEEC56EBE2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65142" y="3345611"/>
            <a:ext cx="10717456" cy="2743775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A linear, sequential approach: Requirements → Design → Development → Testing → Deployment.</a:t>
            </a:r>
            <a:endParaRPr lang="en-US" sz="2000" b="1"/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Each phase must be completed before the next begins.</a:t>
            </a:r>
            <a:endParaRPr lang="en-US" sz="2000" b="1"/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Changes are difficult and costly once development starts.</a:t>
            </a:r>
            <a:endParaRPr lang="en-US" sz="2000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1E42FE3-72C0-8885-D01D-FC08E0DEC2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 flipH="1">
            <a:off x="10420440" y="9901687"/>
            <a:ext cx="295598" cy="40832"/>
          </a:xfrm>
        </p:spPr>
        <p:txBody>
          <a:bodyPr vert="horz" lIns="0" tIns="0" rIns="0" bIns="0" rtlCol="0" anchor="t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50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4923D-C618-15EF-E1D7-7C1B0DBB1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40080"/>
            <a:ext cx="10087699" cy="1280160"/>
          </a:xfrm>
        </p:spPr>
        <p:txBody>
          <a:bodyPr anchor="b" anchorCtr="0"/>
          <a:lstStyle/>
          <a:p>
            <a:r>
              <a:rPr lang="en-US" dirty="0"/>
              <a:t>How Waterfall would Differ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08D75-9EF3-8278-526A-F3CDD758B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Example comparison:</a:t>
            </a:r>
            <a:endParaRPr lang="en-US" b="1"/>
          </a:p>
          <a:p>
            <a:r>
              <a:rPr lang="en-US" b="1" dirty="0">
                <a:ea typeface="+mn-lt"/>
                <a:cs typeface="+mn-lt"/>
              </a:rPr>
              <a:t>In Agile, a mid‑project requirement change is added to the backlog and prioritized for a future Sprint.</a:t>
            </a:r>
            <a:endParaRPr lang="en-US" b="1" dirty="0"/>
          </a:p>
          <a:p>
            <a:r>
              <a:rPr lang="en-US" b="1" dirty="0">
                <a:ea typeface="+mn-lt"/>
                <a:cs typeface="+mn-lt"/>
              </a:rPr>
              <a:t>In Waterfall, the same change would require revisiting earlier phases, causing delays and rework.</a:t>
            </a:r>
            <a:endParaRPr lang="en-US" b="1"/>
          </a:p>
          <a:p>
            <a:r>
              <a:rPr lang="en-US" b="1" dirty="0">
                <a:ea typeface="+mn-lt"/>
                <a:cs typeface="+mn-lt"/>
              </a:rPr>
              <a:t>Agile handles uncertainty better; Waterfall works best when requirements are stable.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351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D893-E98A-260A-9EC4-B9365E53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0406" y="355178"/>
            <a:ext cx="8907585" cy="1371083"/>
          </a:xfrm>
        </p:spPr>
        <p:txBody>
          <a:bodyPr/>
          <a:lstStyle/>
          <a:p>
            <a:r>
              <a:rPr lang="en-US" dirty="0"/>
              <a:t>Choosing agile vs. waterfall</a:t>
            </a:r>
          </a:p>
        </p:txBody>
      </p:sp>
      <p:pic>
        <p:nvPicPr>
          <p:cNvPr id="5" name="Picture Placeholder 14" descr="Mountains under near dusk sky">
            <a:extLst>
              <a:ext uri="{FF2B5EF4-FFF2-40B4-BE49-F238E27FC236}">
                <a16:creationId xmlns:a16="http://schemas.microsoft.com/office/drawing/2014/main" id="{DE72DC91-8DC9-B68C-C1D3-8F5273481A7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l="13191" r="13191"/>
          <a:stretch/>
        </p:blipFill>
        <p:spPr>
          <a:xfrm>
            <a:off x="1371606" y="3205313"/>
            <a:ext cx="3043077" cy="3043083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0D88C-5989-4007-4953-F54A4A34B7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8609" y="1991437"/>
            <a:ext cx="6879381" cy="4253971"/>
          </a:xfrm>
        </p:spPr>
        <p:txBody>
          <a:bodyPr vert="horz" lIns="0" tIns="0" rIns="0" bIns="0" rtlCol="0" anchor="t">
            <a:normAutofit lnSpcReduction="10000"/>
          </a:bodyPr>
          <a:lstStyle/>
          <a:p>
            <a:pPr algn="l"/>
            <a:r>
              <a:rPr lang="en-US" b="1">
                <a:ea typeface="+mn-lt"/>
                <a:cs typeface="+mn-lt"/>
              </a:rPr>
              <a:t>Choose Agile when:</a:t>
            </a:r>
            <a:endParaRPr lang="en-US"/>
          </a:p>
          <a:p>
            <a:pPr marL="285750" algn="l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Requirements are evolving.</a:t>
            </a:r>
            <a:endParaRPr lang="en-US" dirty="0"/>
          </a:p>
          <a:p>
            <a:pPr marL="285750" algn="l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Stakeholder feedback is essential.</a:t>
            </a:r>
            <a:endParaRPr lang="en-US" dirty="0"/>
          </a:p>
          <a:p>
            <a:pPr marL="285750" algn="l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Rapid delivery of increments is valuable.</a:t>
            </a:r>
            <a:endParaRPr lang="en-US" dirty="0"/>
          </a:p>
          <a:p>
            <a:pPr algn="l"/>
            <a:r>
              <a:rPr lang="en-US" b="1" dirty="0">
                <a:ea typeface="+mn-lt"/>
                <a:cs typeface="+mn-lt"/>
              </a:rPr>
              <a:t>Choose Waterfall when:</a:t>
            </a:r>
            <a:endParaRPr lang="en-US" dirty="0"/>
          </a:p>
          <a:p>
            <a:pPr marL="285750" algn="l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Requirements are fixed and well‑documented.</a:t>
            </a:r>
            <a:endParaRPr lang="en-US" dirty="0"/>
          </a:p>
          <a:p>
            <a:pPr marL="285750" algn="l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The project is highly regulated.</a:t>
            </a:r>
            <a:endParaRPr lang="en-US" dirty="0"/>
          </a:p>
          <a:p>
            <a:pPr marL="285750" algn="l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Predictability is more important than flexibility.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49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C2ED9-F033-3D3A-00B7-C0E1A1296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Experience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28441-D32A-9787-048E-BFF8D0CFB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Agile promotes collaboration, transparency, and adaptability.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Frequent feedback loops help teams catch issues early.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Compared to Waterfall, Agile felt more dynamic and aligned with real‑world development challenges.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171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89D68-D8AD-5980-59C9-3C3C9A4DE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E5766-778C-098B-C90A-29ED09B00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Scrum‑Agile provides flexibility, continuous improvement, and customer‑centered development.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Waterfall offers structure and predictability.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Choosing the right approach depends on project goals, constraints, and uncertainty levels.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882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6A11F-DC1E-E560-176E-6CF12155B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C709C-904D-2D1A-F2F0-8C5349CBF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Weerakoon, H. (2024). </a:t>
            </a:r>
            <a:r>
              <a:rPr lang="en-US" sz="2000" i="1" dirty="0" err="1">
                <a:ea typeface="+mn-lt"/>
                <a:cs typeface="+mn-lt"/>
              </a:rPr>
              <a:t>Analysing</a:t>
            </a:r>
            <a:r>
              <a:rPr lang="en-US" sz="2000" i="1" dirty="0">
                <a:ea typeface="+mn-lt"/>
                <a:cs typeface="+mn-lt"/>
              </a:rPr>
              <a:t> and evaluating the effectiveness of the SCRUM methodology for successful project management</a:t>
            </a:r>
            <a:r>
              <a:rPr lang="en-US" sz="2000" dirty="0">
                <a:ea typeface="+mn-lt"/>
                <a:cs typeface="+mn-lt"/>
              </a:rPr>
              <a:t>. </a:t>
            </a:r>
            <a:r>
              <a:rPr lang="en-US" sz="2000" b="1" dirty="0">
                <a:ea typeface="+mn-lt"/>
                <a:cs typeface="+mn-lt"/>
              </a:rPr>
              <a:t>AIP Conference Proceedings, 3220</a:t>
            </a:r>
            <a:r>
              <a:rPr lang="en-US" sz="2000" dirty="0">
                <a:ea typeface="+mn-lt"/>
                <a:cs typeface="+mn-lt"/>
              </a:rPr>
              <a:t>(1), 050015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Bianca, B., &amp; </a:t>
            </a:r>
            <a:r>
              <a:rPr lang="en-US" sz="2000" dirty="0" err="1">
                <a:ea typeface="+mn-lt"/>
                <a:cs typeface="+mn-lt"/>
              </a:rPr>
              <a:t>Hanslo</a:t>
            </a:r>
            <a:r>
              <a:rPr lang="en-US" sz="2000" dirty="0">
                <a:ea typeface="+mn-lt"/>
                <a:cs typeface="+mn-lt"/>
              </a:rPr>
              <a:t>, R. (2023). </a:t>
            </a:r>
            <a:r>
              <a:rPr lang="en-US" sz="2000" i="1" dirty="0">
                <a:ea typeface="+mn-lt"/>
                <a:cs typeface="+mn-lt"/>
              </a:rPr>
              <a:t>The evolution of agile and hybrid project management methodologies: A systematic literature review</a:t>
            </a:r>
            <a:r>
              <a:rPr lang="en-US" sz="2000" dirty="0">
                <a:ea typeface="+mn-lt"/>
                <a:cs typeface="+mn-lt"/>
              </a:rPr>
              <a:t>. </a:t>
            </a:r>
            <a:r>
              <a:rPr lang="en-US" sz="2000" b="1" dirty="0">
                <a:ea typeface="+mn-lt"/>
                <a:cs typeface="+mn-lt"/>
              </a:rPr>
              <a:t>Academy of Computer Science and Software Engineering, University of Johannesburg</a:t>
            </a:r>
            <a:r>
              <a:rPr lang="en-US" sz="2000" dirty="0">
                <a:ea typeface="+mn-lt"/>
                <a:cs typeface="+mn-lt"/>
              </a:rPr>
              <a:t>.</a:t>
            </a:r>
          </a:p>
          <a:p>
            <a:r>
              <a:rPr lang="en-US" sz="2000" dirty="0" err="1">
                <a:ea typeface="+mn-lt"/>
                <a:cs typeface="+mn-lt"/>
              </a:rPr>
              <a:t>assa</a:t>
            </a:r>
            <a:r>
              <a:rPr lang="en-US" sz="2000" dirty="0">
                <a:ea typeface="+mn-lt"/>
                <a:cs typeface="+mn-lt"/>
              </a:rPr>
              <a:t>, A. C., Almeida, I. A., Pereira, T. N. F., &amp; Oliveira, M. S. (2023). </a:t>
            </a:r>
            <a:r>
              <a:rPr lang="en-US" sz="2000" i="1" dirty="0">
                <a:ea typeface="+mn-lt"/>
                <a:cs typeface="+mn-lt"/>
              </a:rPr>
              <a:t>Scrum: A systematic literature review</a:t>
            </a:r>
            <a:r>
              <a:rPr lang="en-US" sz="2000" dirty="0">
                <a:ea typeface="+mn-lt"/>
                <a:cs typeface="+mn-lt"/>
              </a:rPr>
              <a:t>. </a:t>
            </a:r>
            <a:r>
              <a:rPr lang="en-US" sz="2000" b="1" dirty="0">
                <a:ea typeface="+mn-lt"/>
                <a:cs typeface="+mn-lt"/>
              </a:rPr>
              <a:t>International Journal of Advanced Computer Science and Applications, 14</a:t>
            </a:r>
            <a:r>
              <a:rPr lang="en-US" sz="2000" dirty="0">
                <a:ea typeface="+mn-lt"/>
                <a:cs typeface="+mn-lt"/>
              </a:rPr>
              <a:t>(4)</a:t>
            </a:r>
          </a:p>
          <a:p>
            <a:r>
              <a:rPr lang="en-US" sz="2000" dirty="0">
                <a:ea typeface="+mn-lt"/>
                <a:cs typeface="+mn-lt"/>
              </a:rPr>
              <a:t>Tetteh, S. G. (2024). </a:t>
            </a:r>
            <a:r>
              <a:rPr lang="en-US" sz="2000" i="1" dirty="0">
                <a:ea typeface="+mn-lt"/>
                <a:cs typeface="+mn-lt"/>
              </a:rPr>
              <a:t>Empirical study of agile software development methodologies: A comparative analysis</a:t>
            </a:r>
            <a:r>
              <a:rPr lang="en-US" sz="2000" dirty="0">
                <a:ea typeface="+mn-lt"/>
                <a:cs typeface="+mn-lt"/>
              </a:rPr>
              <a:t>. </a:t>
            </a:r>
            <a:r>
              <a:rPr lang="en-US" sz="2000" b="1" dirty="0">
                <a:ea typeface="+mn-lt"/>
                <a:cs typeface="+mn-lt"/>
              </a:rPr>
              <a:t>Asian Journal of Research in Computer Science, 17</a:t>
            </a:r>
            <a:r>
              <a:rPr lang="en-US" sz="2000" dirty="0">
                <a:ea typeface="+mn-lt"/>
                <a:cs typeface="+mn-lt"/>
              </a:rPr>
              <a:t>(5)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66894839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EDFB26C-8E2C-4C64-B21C-909AD1AA2D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B16729F-0CF3-48D0-9AFD-AAAEB43092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544979-59F0-4F8D-AA35-90255837C7E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418</Words>
  <Application>Microsoft Office PowerPoint</Application>
  <PresentationFormat>Widescreen</PresentationFormat>
  <Paragraphs>122</Paragraphs>
  <Slides>16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GradientVTI</vt:lpstr>
      <vt:lpstr>Agile vs. Waterfall: Understanding modern software development</vt:lpstr>
      <vt:lpstr>Introduction</vt:lpstr>
      <vt:lpstr>Scrum-Agile Roles Overview</vt:lpstr>
      <vt:lpstr>Product Owner</vt:lpstr>
      <vt:lpstr>Scrum master</vt:lpstr>
      <vt:lpstr>Development Team</vt:lpstr>
      <vt:lpstr>Agile SDLC Phases</vt:lpstr>
      <vt:lpstr>Planning &amp; Requirements</vt:lpstr>
      <vt:lpstr>Design &amp; Development</vt:lpstr>
      <vt:lpstr>Testing &amp; Deployment</vt:lpstr>
      <vt:lpstr>Waterfall Model Overview</vt:lpstr>
      <vt:lpstr>How Waterfall would Differ</vt:lpstr>
      <vt:lpstr>Choosing agile vs. waterfall</vt:lpstr>
      <vt:lpstr>Course Experience Reflection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151</cp:revision>
  <dcterms:created xsi:type="dcterms:W3CDTF">2026-02-19T15:28:41Z</dcterms:created>
  <dcterms:modified xsi:type="dcterms:W3CDTF">2026-02-19T15:56:15Z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